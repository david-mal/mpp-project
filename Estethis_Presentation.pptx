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9A84C"/>
                </a:solidFill>
                <a:latin typeface="Georgia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F0EBE0"/>
                </a:solidFill>
                <a:latin typeface="Georgia"/>
              </a:rPr>
              <a:t>ESTETHIS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8760" y="2743200"/>
            <a:ext cx="594360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880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9A84C"/>
                </a:solidFill>
                <a:latin typeface="Calibri Light"/>
              </a:rPr>
              <a:t>Luxury Fashion E-Commerce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566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058"/>
                </a:solidFill>
                <a:latin typeface="Calibri Light"/>
              </a:rPr>
              <a:t>React 19  ·  Vite  ·  Express 5  ·  Sequelize  ·  WebSocket  ·  JWT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5A28"/>
                </a:solidFill>
                <a:latin typeface="Calibri Light"/>
              </a:rPr>
              <a:t>8 Feature Phases  ·  40+ Components  ·  Full-Stack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5A28"/>
                </a:solidFill>
                <a:latin typeface="Calibri Light"/>
              </a:rPr>
              <a:t>EST.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5A28"/>
                </a:solidFill>
                <a:latin typeface="Calibri Light"/>
              </a:rPr>
              <a:t>01  ·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0EBE0"/>
                </a:solidFill>
                <a:latin typeface="Georgia"/>
              </a:rPr>
              <a:t>Not All
Users Are Equal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688336"/>
            <a:ext cx="493776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3-tier permission model: admin  /  manager  /  user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Every UI element gates in real-time — no page reload, no flash of restricted content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Backend enforces each route independently (UI gating is UX courtesy, not the security layer)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Managers edit the catalogue · Admins access user management, action logs &amp; threat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2286000"/>
            <a:ext cx="1920240" cy="109728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2359152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84C"/>
                </a:solidFill>
                <a:latin typeface="Georgia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2852928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Full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3584448"/>
            <a:ext cx="1920240" cy="109728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0928" y="3657600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AAC8A"/>
                </a:solidFill>
                <a:latin typeface="Georgia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0928" y="4151376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Catalogue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4882896"/>
            <a:ext cx="1920240" cy="109728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4956048"/>
            <a:ext cx="1700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5449824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Browse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5A28"/>
                </a:solidFill>
                <a:latin typeface="Calibri Light"/>
              </a:rPr>
              <a:t>02  ·  AUTH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0EBE0"/>
                </a:solidFill>
                <a:latin typeface="Georgia"/>
              </a:rPr>
              <a:t>Browse Before
You Commit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688336"/>
            <a:ext cx="493776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Full product catalogue — including reviews — accessible without an account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Protected actions (Add to Cart, Checkout, My Account) trigger an intercept modal, not a redirect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Auth state machine:  init  →  guest  →  login  /  register  →  app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View state is preserved across the auth round-trip — user lands back exactly where they were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074920"/>
            <a:ext cx="2212848" cy="1024128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148072"/>
            <a:ext cx="19933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GUEST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4184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Browse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A5A28"/>
                </a:solidFill>
                <a:latin typeface="Georgia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5074920"/>
            <a:ext cx="2212848" cy="1024128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5148072"/>
            <a:ext cx="19933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84C"/>
                </a:solidFill>
                <a:latin typeface="Georgia"/>
              </a:rPr>
              <a:t>INTERCEPT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564184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A5A28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5583" y="5074920"/>
            <a:ext cx="2212848" cy="1024128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5148072"/>
            <a:ext cx="19933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AAC8A"/>
                </a:solidFill>
                <a:latin typeface="Georgia"/>
              </a:rPr>
              <a:t>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564184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5394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A5A28"/>
                </a:solidFill>
                <a:latin typeface="Georg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4192" y="5074920"/>
            <a:ext cx="2212848" cy="1024128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5148072"/>
            <a:ext cx="19933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0EBE0"/>
                </a:solidFill>
                <a:latin typeface="Georgia"/>
              </a:rPr>
              <a:t>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5641848"/>
            <a:ext cx="199339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Full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292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5A28"/>
                </a:solidFill>
                <a:latin typeface="Calibri Light"/>
              </a:rPr>
              <a:t>03  ·  GAMIFICATION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58368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 i="0">
                <a:solidFill>
                  <a:srgbClr val="C9A84C"/>
                </a:solidFill>
                <a:latin typeface="Georgia"/>
              </a:rPr>
              <a:t>The Ticket
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2688336"/>
            <a:ext cx="493776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16140C"/>
                </a:solidFill>
                <a:latin typeface="Georgia"/>
              </a:rPr>
              <a:t>✦ ✦ ✦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914400"/>
            <a:ext cx="2194560" cy="118872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36607" y="987552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84C"/>
                </a:solidFill>
                <a:latin typeface="Georgia"/>
              </a:rPr>
              <a:t>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6607" y="1481328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WIN CHANCE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2304288"/>
            <a:ext cx="2194560" cy="109728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6607" y="2377440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C878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6607" y="2871216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PRIZE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3602736"/>
            <a:ext cx="2194560" cy="109728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6607" y="3675887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AAC8A"/>
                </a:solidFill>
                <a:latin typeface="Georgia"/>
              </a:rPr>
              <a:t>30d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7" y="4169663"/>
            <a:ext cx="19751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COUPON TTL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2852928"/>
            <a:ext cx="8686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C9A84C"/>
                </a:solidFill>
                <a:latin typeface="Calibri Light"/>
              </a:rPr>
              <a:t>✦  </a:t>
            </a:r>
            <a:r>
              <a:rPr sz="1600">
                <a:solidFill>
                  <a:srgbClr val="F0EBE0"/>
                </a:solidFill>
                <a:latin typeface="Calibri Light"/>
              </a:rPr>
              <a:t>Result computed once at mount — reels reveal a pre-determined outcome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C9A84C"/>
                </a:solidFill>
                <a:latin typeface="Calibri Light"/>
              </a:rPr>
              <a:t>✦  </a:t>
            </a:r>
            <a:r>
              <a:rPr sz="1600">
                <a:solidFill>
                  <a:srgbClr val="F0EBE0"/>
                </a:solidFill>
                <a:latin typeface="Calibri Light"/>
              </a:rPr>
              <a:t>CSS frame-by-frame animation: 65 ms/frame, 3 reels stop sequentially 400 ms apart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C9A84C"/>
                </a:solidFill>
                <a:latin typeface="Calibri Light"/>
              </a:rPr>
              <a:t>✦  </a:t>
            </a:r>
            <a:r>
              <a:rPr sz="1600">
                <a:solidFill>
                  <a:srgbClr val="F0EBE0"/>
                </a:solidFill>
                <a:latin typeface="Calibri Light"/>
              </a:rPr>
              <a:t>Prize types: Percentage OFF  ·  Fixed $ OFF  ·  Buy 1 Get 1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C9A84C"/>
                </a:solidFill>
                <a:latin typeface="Calibri Light"/>
              </a:rPr>
              <a:t>✦  </a:t>
            </a:r>
            <a:r>
              <a:rPr sz="1600">
                <a:solidFill>
                  <a:srgbClr val="F0EBE0"/>
                </a:solidFill>
                <a:latin typeface="Calibri Light"/>
              </a:rPr>
              <a:t>Won coupons stored in user-scoped localStorage with 30-day expiry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C9A84C"/>
                </a:solidFill>
                <a:latin typeface="Calibri Light"/>
              </a:rPr>
              <a:t>✦  </a:t>
            </a:r>
            <a:r>
              <a:rPr sz="1600">
                <a:solidFill>
                  <a:srgbClr val="F0EBE0"/>
                </a:solidFill>
                <a:latin typeface="Calibri Light"/>
              </a:rPr>
              <a:t>Redeemable from My Account → My Coupons with one-click copy-to-clipboard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5A28"/>
                </a:solidFill>
                <a:latin typeface="Calibri Light"/>
              </a:rPr>
              <a:t>04  · 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0EBE0"/>
                </a:solidFill>
                <a:latin typeface="Georgia"/>
              </a:rPr>
              <a:t>Your Session
Survives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688336"/>
            <a:ext cx="493776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User-scoped cart key: estethis_cart_u{id} — cart never leaks across accounts on the same browser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Page refresh: apiMe() validates token and reloads the user's cart in a single pass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Cookie activity tracker records recently-viewed categories across browser sessions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Personalization banner in the catalogue surfaces quick-filter chips from cookie history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Inactivity auto-logout (30 min) saves the cart to the scoped key before clearing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138928"/>
            <a:ext cx="3200400" cy="1024128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212080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84C"/>
                </a:solidFill>
                <a:latin typeface="Georgia"/>
              </a:rPr>
              <a:t>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705856"/>
            <a:ext cx="2980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cart · orders · coupons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5928" y="5138928"/>
            <a:ext cx="3200400" cy="1024128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5212080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AAC8A"/>
                </a:solidFill>
                <a:latin typeface="Georgia"/>
              </a:rPr>
              <a:t>Cookies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5705856"/>
            <a:ext cx="2980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categories · last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97496" y="5138928"/>
            <a:ext cx="3200400" cy="1024128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223" y="5212080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sessionStorage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3" y="5705856"/>
            <a:ext cx="29809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UI state (banner dismiss)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5A28"/>
                </a:solidFill>
                <a:latin typeface="Calibri Light"/>
              </a:rPr>
              <a:t>05  ·  BESPOKE TAILORING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0EBE0"/>
                </a:solidFill>
                <a:latin typeface="Georgia"/>
              </a:rPr>
              <a:t>The Atelier
Configurator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688336"/>
            <a:ext cx="493776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Interactive SVG body silhouette — 5 annotated measurement points, click to focus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3-step wizard: Select Product  →  Mark &amp; Measure  →  Confirm &amp; Send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Strict per-field validation: required · positive · realistic range  (e.g. chest 60–200 cm)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Errors clear in real-time as the user types — error state never bleeds into Step 3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Rush delivery + premium packaging add-ons update the pricing summary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138928"/>
            <a:ext cx="1993392" cy="100584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212080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84C"/>
                </a:solidFill>
                <a:latin typeface="Georgia"/>
              </a:rPr>
              <a:t>Shoulder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705856"/>
            <a:ext cx="1773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25–70 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5138928"/>
            <a:ext cx="1993392" cy="100584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5212080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Chest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5705856"/>
            <a:ext cx="1773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60–200 cm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37176" y="5138928"/>
            <a:ext cx="1993392" cy="100584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46904" y="5212080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Sleeve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5705856"/>
            <a:ext cx="1773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40–90 cm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8583" y="5138928"/>
            <a:ext cx="1993392" cy="100584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5212080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Waist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5705856"/>
            <a:ext cx="1773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50–200 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79992" y="5138928"/>
            <a:ext cx="1993392" cy="100584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5212080"/>
            <a:ext cx="1773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5705856"/>
            <a:ext cx="1773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40–130 cm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5A28"/>
                </a:solidFill>
                <a:latin typeface="Calibri Light"/>
              </a:rPr>
              <a:t>06  · 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0EBE0"/>
                </a:solidFill>
                <a:latin typeface="Georgia"/>
              </a:rPr>
              <a:t>Admin
Command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688336"/>
            <a:ext cx="493776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Orders tab: every customer order, fully expandable with items, prices &amp; shipping address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Inbox tab: contact-form messages with unread badge · mark-as-read on expand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Sales KPIs injected into Statistics: Total Revenue + Orders Placed alongside product KPIs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Role-gated: Inbox is admin-only — admins see a panel notice on the Contact page, not the 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120640"/>
            <a:ext cx="3246120" cy="105156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19379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84C"/>
                </a:solidFill>
                <a:latin typeface="Georgia"/>
              </a:rPr>
              <a:t>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687568"/>
            <a:ext cx="3026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Products + Sales KPIs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0791" y="5120640"/>
            <a:ext cx="3246120" cy="105156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519379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AAC8A"/>
                </a:solidFill>
                <a:latin typeface="Georgia"/>
              </a:rP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687568"/>
            <a:ext cx="3026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All customer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7223" y="5120640"/>
            <a:ext cx="3246120" cy="105156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1" y="519379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06C75"/>
                </a:solidFill>
                <a:latin typeface="Georgia"/>
              </a:rPr>
              <a:t>INBOX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1" y="5687568"/>
            <a:ext cx="3026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Contact messages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5A28"/>
                </a:solidFill>
                <a:latin typeface="Calibri Light"/>
              </a:rPr>
              <a:t>07  · 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0EBE0"/>
                </a:solidFill>
                <a:latin typeface="Georgia"/>
              </a:rPr>
              <a:t>Alive Even
Offline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688336"/>
            <a:ext cx="4937760" cy="201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WebSocket connection — product mutations propagate to all open tabs in real-time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Offline mutation queue — CRUD ops are batched locally and replayed on reconnect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Optimistic UI — changes are applied instantly; rolled back silently on server failure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C9A84C"/>
                </a:solidFill>
                <a:latin typeface="Calibri Light"/>
              </a:rPr>
              <a:t>✦  </a:t>
            </a:r>
            <a:r>
              <a:rPr sz="1700">
                <a:solidFill>
                  <a:srgbClr val="F0EBE0"/>
                </a:solidFill>
                <a:latin typeface="Calibri Light"/>
              </a:rPr>
              <a:t>Three-signal connection indicator: browser online · WebSocket · server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120640"/>
            <a:ext cx="3246120" cy="105156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19379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AAC8A"/>
                </a:solidFill>
                <a:latin typeface="Georgia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687568"/>
            <a:ext cx="3026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navigator.onLine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50791" y="5120640"/>
            <a:ext cx="3246120" cy="105156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519379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9A84C"/>
                </a:solidFill>
                <a:latin typeface="Georgia"/>
              </a:rPr>
              <a:t>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687568"/>
            <a:ext cx="3026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ws:// heartbeat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7223" y="5120640"/>
            <a:ext cx="3246120" cy="1051560"/>
          </a:xfrm>
          <a:prstGeom prst="rect">
            <a:avLst/>
          </a:prstGeom>
          <a:solidFill>
            <a:srgbClr val="16140C"/>
          </a:solidFill>
          <a:ln w="762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1" y="519379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787058"/>
                </a:solidFill>
                <a:latin typeface="Georgia"/>
              </a:rPr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1" y="5687568"/>
            <a:ext cx="302666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058"/>
                </a:solidFill>
                <a:latin typeface="Calibri Light"/>
              </a:rPr>
              <a:t>/api/health probe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28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5A28"/>
                </a:solidFill>
                <a:latin typeface="Georgia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228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5A28"/>
                </a:solidFill>
                <a:latin typeface="Georgia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5A28"/>
                </a:solidFill>
                <a:latin typeface="Georgia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217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5A28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868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9A84C"/>
                </a:solidFill>
                <a:latin typeface="Georgia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6304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0EBE0"/>
                </a:solidFill>
                <a:latin typeface="Georgia"/>
              </a:rPr>
              <a:t>Ready to see it
in action?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133087"/>
            <a:ext cx="4297680" cy="25603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7058"/>
                </a:solidFill>
                <a:latin typeface="Calibri Light"/>
              </a:rPr>
              <a:t>Guest Browse  ·  Cart &amp; Checkout  ·  The Ticket Machine
My Coupons  ·  Atelier Configurator  ·  Admin Inbox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5440680"/>
            <a:ext cx="2788920" cy="640080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5458968"/>
            <a:ext cx="2788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 Light"/>
              </a:rPr>
              <a:t>LIVE DEMO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